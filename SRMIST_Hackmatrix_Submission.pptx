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Times New Roman" charset="1" panose="02020603050405020304"/>
      <p:regular r:id="rId21"/>
    </p:embeddedFont>
    <p:embeddedFont>
      <p:font typeface="DM Sans" charset="1" panose="00000000000000000000"/>
      <p:regular r:id="rId22"/>
    </p:embeddedFont>
    <p:embeddedFont>
      <p:font typeface="Arimo" charset="1" panose="020B0604020202020204"/>
      <p:regular r:id="rId23"/>
    </p:embeddedFont>
    <p:embeddedFont>
      <p:font typeface="Arimo Bold" charset="1" panose="020B07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drive.google.com/file/d/1M74sb6NFH8FlprWxU1pLssUKaQGRzh8t/view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335" y="1005459"/>
            <a:ext cx="3653790" cy="540258"/>
            <a:chOff x="0" y="0"/>
            <a:chExt cx="4871720" cy="7203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1720" cy="720344"/>
            </a:xfrm>
            <a:custGeom>
              <a:avLst/>
              <a:gdLst/>
              <a:ahLst/>
              <a:cxnLst/>
              <a:rect r="r" b="b" t="t" l="l"/>
              <a:pathLst>
                <a:path h="720344" w="4871720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lnTo>
                    <a:pt x="4511548" y="0"/>
                  </a:lnTo>
                  <a:cubicBezTo>
                    <a:pt x="4710430" y="0"/>
                    <a:pt x="4871720" y="161290"/>
                    <a:pt x="4871720" y="360172"/>
                  </a:cubicBezTo>
                  <a:cubicBezTo>
                    <a:pt x="4871720" y="559054"/>
                    <a:pt x="4710430" y="720344"/>
                    <a:pt x="4511548" y="720344"/>
                  </a:cubicBezTo>
                  <a:lnTo>
                    <a:pt x="360172" y="720344"/>
                  </a:ln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3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65860" y="1014984"/>
            <a:ext cx="3634740" cy="521208"/>
            <a:chOff x="0" y="0"/>
            <a:chExt cx="4846320" cy="694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46320" cy="694944"/>
            </a:xfrm>
            <a:custGeom>
              <a:avLst/>
              <a:gdLst/>
              <a:ahLst/>
              <a:cxnLst/>
              <a:rect r="r" b="b" t="t" l="l"/>
              <a:pathLst>
                <a:path h="69494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882" r="0" b="-858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84632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6D28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SAMSUNG PRISM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5860" y="1810512"/>
            <a:ext cx="9189720" cy="1124712"/>
            <a:chOff x="0" y="0"/>
            <a:chExt cx="12252960" cy="14996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529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207" r="0" b="-10920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252960" cy="1547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b="true" sz="7500">
                  <a:solidFill>
                    <a:srgbClr val="1414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Generative AI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5860" y="2852928"/>
            <a:ext cx="9189720" cy="1124712"/>
            <a:chOff x="0" y="0"/>
            <a:chExt cx="12252960" cy="14996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529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207" r="0" b="-1092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252960" cy="1547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b="true" sz="7500">
                  <a:solidFill>
                    <a:srgbClr val="6D28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Hackathon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4087368"/>
            <a:ext cx="9189720" cy="685800"/>
            <a:chOff x="0" y="0"/>
            <a:chExt cx="1225296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5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099" r="0" b="-21109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25296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1414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3rd Edition</a:t>
              </a:r>
              <a:r>
                <a:rPr lang="en-US" sz="3000">
                  <a:solidFill>
                    <a:srgbClr val="63637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2026 – 27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65860" y="4927092"/>
            <a:ext cx="877824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Theme ID - 4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- Hackmatrix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Name - SRM Institute of Science and Technology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Name &amp; Email 1-  kavzzreads@gmail.com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Name &amp; Email 2- rajvinderkaurpersonal@gmail.com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Name &amp; Email 3- annmary9c@gmail.com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Submission Github link - https://github.com/eb1124/Streaming-Live-RAG</a:t>
            </a:r>
          </a:p>
          <a:p>
            <a:pPr algn="l" marL="380048" indent="-190024" lvl="1">
              <a:lnSpc>
                <a:spcPts val="252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588752" y="1577340"/>
            <a:ext cx="6858000" cy="6858000"/>
            <a:chOff x="0" y="0"/>
            <a:chExt cx="9144000" cy="9144000"/>
          </a:xfrm>
        </p:grpSpPr>
        <p:sp>
          <p:nvSpPr>
            <p:cNvPr name="Freeform 18" id="18" descr="hero_network.png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0667" y="650036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70574" y="852695"/>
            <a:ext cx="8717426" cy="9434305"/>
          </a:xfrm>
          <a:custGeom>
            <a:avLst/>
            <a:gdLst/>
            <a:ahLst/>
            <a:cxnLst/>
            <a:rect r="r" b="b" t="t" l="l"/>
            <a:pathLst>
              <a:path h="9434305" w="8717426">
                <a:moveTo>
                  <a:pt x="0" y="0"/>
                </a:moveTo>
                <a:lnTo>
                  <a:pt x="8717426" y="0"/>
                </a:lnTo>
                <a:lnTo>
                  <a:pt x="8717426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4029" y="2619330"/>
            <a:ext cx="5211921" cy="39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14142B">
                    <a:alpha val="60000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PRISM GenAI Hackathon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0667" y="3576341"/>
            <a:ext cx="10548099" cy="133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6"/>
              </a:lnSpc>
            </a:pPr>
            <a:r>
              <a:rPr lang="en-US" sz="9636" spc="-94">
                <a:solidFill>
                  <a:srgbClr val="14142B">
                    <a:alpha val="80000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StreamingLiveRAG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574" y="5356674"/>
            <a:ext cx="9154938" cy="218640"/>
          </a:xfrm>
          <a:custGeom>
            <a:avLst/>
            <a:gdLst/>
            <a:ahLst/>
            <a:cxnLst/>
            <a:rect r="r" b="b" t="t" l="l"/>
            <a:pathLst>
              <a:path h="218640" w="9154938">
                <a:moveTo>
                  <a:pt x="0" y="0"/>
                </a:moveTo>
                <a:lnTo>
                  <a:pt x="9154938" y="0"/>
                </a:lnTo>
                <a:lnTo>
                  <a:pt x="915493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6624" y="5824711"/>
            <a:ext cx="6952402" cy="115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6"/>
              </a:lnSpc>
            </a:pPr>
            <a:r>
              <a:rPr lang="en-US" sz="3403">
                <a:solidFill>
                  <a:srgbClr val="14142B">
                    <a:alpha val="80000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Grounded answers you can verify.</a:t>
            </a:r>
          </a:p>
          <a:p>
            <a:pPr algn="l">
              <a:lnSpc>
                <a:spcPts val="4766"/>
              </a:lnSpc>
            </a:pPr>
            <a:r>
              <a:rPr lang="en-US" sz="3403">
                <a:solidFill>
                  <a:srgbClr val="14142B">
                    <a:alpha val="80000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Honest refusals when it can’t.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Solutions &amp; Gaps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771775"/>
            <a:ext cx="15773400" cy="441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Chat-with-your-PDF tools (ChatPDF-style): fluent answers, loose or no citations, no way to refuse when evidence is weak</a:t>
            </a:r>
          </a:p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Basic RAG pipelines: retrieve then generate, never verify the output; can’t handle two documents or dated policy versions</a:t>
            </a:r>
          </a:p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University policy search pages: keyword search returns documents, not answers; no synthesis or follow-ups</a:t>
            </a:r>
          </a:p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Raw LLM, no retrieval: states a dollar threshold or deadline with full confidence, sourced from nothing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875" y="399774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Solutions &amp; Architecture Diagram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7300" y="3143250"/>
            <a:ext cx="2286000" cy="1333500"/>
            <a:chOff x="0" y="0"/>
            <a:chExt cx="3048000" cy="177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048000">
                  <a:moveTo>
                    <a:pt x="254000" y="0"/>
                  </a:moveTo>
                  <a:lnTo>
                    <a:pt x="2794000" y="0"/>
                  </a:lnTo>
                  <a:cubicBezTo>
                    <a:pt x="2934280" y="0"/>
                    <a:pt x="3048000" y="113720"/>
                    <a:pt x="3048000" y="254000"/>
                  </a:cubicBezTo>
                  <a:lnTo>
                    <a:pt x="3048000" y="1524000"/>
                  </a:lnTo>
                  <a:cubicBezTo>
                    <a:pt x="3048000" y="1664280"/>
                    <a:pt x="2934280" y="1778000"/>
                    <a:pt x="2794000" y="1778000"/>
                  </a:cubicBezTo>
                  <a:lnTo>
                    <a:pt x="254000" y="1778000"/>
                  </a:lnTo>
                  <a:cubicBezTo>
                    <a:pt x="113720" y="1778000"/>
                    <a:pt x="0" y="1664280"/>
                    <a:pt x="0" y="1524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04EA6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4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54780" y="3143250"/>
            <a:ext cx="2286000" cy="1333500"/>
            <a:chOff x="0" y="0"/>
            <a:chExt cx="3048000" cy="177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048000">
                  <a:moveTo>
                    <a:pt x="254000" y="0"/>
                  </a:moveTo>
                  <a:lnTo>
                    <a:pt x="2794000" y="0"/>
                  </a:lnTo>
                  <a:cubicBezTo>
                    <a:pt x="2934280" y="0"/>
                    <a:pt x="3048000" y="113720"/>
                    <a:pt x="3048000" y="254000"/>
                  </a:cubicBezTo>
                  <a:lnTo>
                    <a:pt x="3048000" y="1524000"/>
                  </a:lnTo>
                  <a:cubicBezTo>
                    <a:pt x="3048000" y="1664280"/>
                    <a:pt x="2934280" y="1778000"/>
                    <a:pt x="2794000" y="1778000"/>
                  </a:cubicBezTo>
                  <a:lnTo>
                    <a:pt x="254000" y="1778000"/>
                  </a:lnTo>
                  <a:cubicBezTo>
                    <a:pt x="113720" y="1778000"/>
                    <a:pt x="0" y="1664280"/>
                    <a:pt x="0" y="1524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04EA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4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52260" y="3143250"/>
            <a:ext cx="2286000" cy="1333500"/>
            <a:chOff x="0" y="0"/>
            <a:chExt cx="3048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048000">
                  <a:moveTo>
                    <a:pt x="254000" y="0"/>
                  </a:moveTo>
                  <a:lnTo>
                    <a:pt x="2794000" y="0"/>
                  </a:lnTo>
                  <a:cubicBezTo>
                    <a:pt x="2934280" y="0"/>
                    <a:pt x="3048000" y="113720"/>
                    <a:pt x="3048000" y="254000"/>
                  </a:cubicBezTo>
                  <a:lnTo>
                    <a:pt x="3048000" y="1524000"/>
                  </a:lnTo>
                  <a:cubicBezTo>
                    <a:pt x="3048000" y="1664280"/>
                    <a:pt x="2934280" y="1778000"/>
                    <a:pt x="2794000" y="1778000"/>
                  </a:cubicBezTo>
                  <a:lnTo>
                    <a:pt x="254000" y="1778000"/>
                  </a:lnTo>
                  <a:cubicBezTo>
                    <a:pt x="113720" y="1778000"/>
                    <a:pt x="0" y="1664280"/>
                    <a:pt x="0" y="1524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04EA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4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49740" y="3143250"/>
            <a:ext cx="2286000" cy="1333500"/>
            <a:chOff x="0" y="0"/>
            <a:chExt cx="3048000" cy="177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048000">
                  <a:moveTo>
                    <a:pt x="254000" y="0"/>
                  </a:moveTo>
                  <a:lnTo>
                    <a:pt x="2794000" y="0"/>
                  </a:lnTo>
                  <a:cubicBezTo>
                    <a:pt x="2934280" y="0"/>
                    <a:pt x="3048000" y="113720"/>
                    <a:pt x="3048000" y="254000"/>
                  </a:cubicBezTo>
                  <a:lnTo>
                    <a:pt x="3048000" y="1524000"/>
                  </a:lnTo>
                  <a:cubicBezTo>
                    <a:pt x="3048000" y="1664280"/>
                    <a:pt x="2934280" y="1778000"/>
                    <a:pt x="2794000" y="1778000"/>
                  </a:cubicBezTo>
                  <a:lnTo>
                    <a:pt x="254000" y="1778000"/>
                  </a:lnTo>
                  <a:cubicBezTo>
                    <a:pt x="113720" y="1778000"/>
                    <a:pt x="0" y="1664280"/>
                    <a:pt x="0" y="1524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04EA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4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47220" y="3143250"/>
            <a:ext cx="2286000" cy="1333500"/>
            <a:chOff x="0" y="0"/>
            <a:chExt cx="3048000" cy="177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048000">
                  <a:moveTo>
                    <a:pt x="254000" y="0"/>
                  </a:moveTo>
                  <a:lnTo>
                    <a:pt x="2794000" y="0"/>
                  </a:lnTo>
                  <a:cubicBezTo>
                    <a:pt x="2934280" y="0"/>
                    <a:pt x="3048000" y="113720"/>
                    <a:pt x="3048000" y="254000"/>
                  </a:cubicBezTo>
                  <a:lnTo>
                    <a:pt x="3048000" y="1524000"/>
                  </a:lnTo>
                  <a:cubicBezTo>
                    <a:pt x="3048000" y="1664280"/>
                    <a:pt x="2934280" y="1778000"/>
                    <a:pt x="2794000" y="1778000"/>
                  </a:cubicBezTo>
                  <a:lnTo>
                    <a:pt x="254000" y="1778000"/>
                  </a:lnTo>
                  <a:cubicBezTo>
                    <a:pt x="113720" y="1778000"/>
                    <a:pt x="0" y="1664280"/>
                    <a:pt x="0" y="1524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704EA6"/>
            </a:solidFill>
            <a:ln w="28575" cap="sq">
              <a:solidFill>
                <a:srgbClr val="704EA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04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744700" y="3143250"/>
            <a:ext cx="2286000" cy="1333500"/>
            <a:chOff x="0" y="0"/>
            <a:chExt cx="3048000" cy="177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048000">
                  <a:moveTo>
                    <a:pt x="254000" y="0"/>
                  </a:moveTo>
                  <a:lnTo>
                    <a:pt x="2794000" y="0"/>
                  </a:lnTo>
                  <a:cubicBezTo>
                    <a:pt x="2934280" y="0"/>
                    <a:pt x="3048000" y="113720"/>
                    <a:pt x="3048000" y="254000"/>
                  </a:cubicBezTo>
                  <a:lnTo>
                    <a:pt x="3048000" y="1524000"/>
                  </a:lnTo>
                  <a:cubicBezTo>
                    <a:pt x="3048000" y="1664280"/>
                    <a:pt x="2934280" y="1778000"/>
                    <a:pt x="2794000" y="1778000"/>
                  </a:cubicBezTo>
                  <a:lnTo>
                    <a:pt x="254000" y="1778000"/>
                  </a:lnTo>
                  <a:cubicBezTo>
                    <a:pt x="113720" y="1778000"/>
                    <a:pt x="0" y="1664280"/>
                    <a:pt x="0" y="1524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04EA6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04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57300" y="3533775"/>
            <a:ext cx="2286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42B"/>
                </a:solidFill>
                <a:latin typeface="Arimo Bold"/>
                <a:ea typeface="Arimo Bold"/>
                <a:cs typeface="Arimo Bold"/>
                <a:sym typeface="Arimo Bold"/>
              </a:rPr>
              <a:t>User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54780" y="3533775"/>
            <a:ext cx="2286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42B"/>
                </a:solidFill>
                <a:latin typeface="Arimo Bold"/>
                <a:ea typeface="Arimo Bold"/>
                <a:cs typeface="Arimo Bold"/>
                <a:sym typeface="Arimo Bold"/>
              </a:rPr>
              <a:t>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52260" y="3533775"/>
            <a:ext cx="2286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42B"/>
                </a:solidFill>
                <a:latin typeface="Arimo Bold"/>
                <a:ea typeface="Arimo Bold"/>
                <a:cs typeface="Arimo Bold"/>
                <a:sym typeface="Arimo Bold"/>
              </a:rPr>
              <a:t>Orchestrator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9740" y="3324225"/>
            <a:ext cx="2286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42B"/>
                </a:solidFill>
                <a:latin typeface="Arimo Bold"/>
                <a:ea typeface="Arimo Bold"/>
                <a:cs typeface="Arimo Bold"/>
                <a:sym typeface="Arimo Bold"/>
              </a:rPr>
              <a:t>Retrieval +</a:t>
            </a:r>
          </a:p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42B"/>
                </a:solidFill>
                <a:latin typeface="Arimo Bold"/>
                <a:ea typeface="Arimo Bold"/>
                <a:cs typeface="Arimo Bold"/>
                <a:sym typeface="Arimo Bold"/>
              </a:rPr>
              <a:t>Generation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47220" y="3533775"/>
            <a:ext cx="2286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Verifier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4700" y="3324225"/>
            <a:ext cx="2286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42B"/>
                </a:solidFill>
                <a:latin typeface="Arimo Bold"/>
                <a:ea typeface="Arimo Bold"/>
                <a:cs typeface="Arimo Bold"/>
                <a:sym typeface="Arimo Bold"/>
              </a:rPr>
              <a:t>Answer or</a:t>
            </a:r>
          </a:p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42B"/>
                </a:solidFill>
                <a:latin typeface="Arimo Bold"/>
                <a:ea typeface="Arimo Bold"/>
                <a:cs typeface="Arimo Bold"/>
                <a:sym typeface="Arimo Bold"/>
              </a:rPr>
              <a:t>abstain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43300" y="3505200"/>
            <a:ext cx="4114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704EA6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40780" y="3505200"/>
            <a:ext cx="4114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704EA6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38260" y="3505200"/>
            <a:ext cx="4114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704EA6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35740" y="3505200"/>
            <a:ext cx="4114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704EA6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33220" y="3505200"/>
            <a:ext cx="4114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704EA6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7300" y="4972050"/>
            <a:ext cx="157734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RabbitMQ (job queue)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Redis (sessions)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PostgreSQL (metadata)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MCP (tool access)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OpenTelemetry (tracing)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7300" y="8239125"/>
            <a:ext cx="157734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14142B"/>
                </a:solidFill>
                <a:latin typeface="Arimo Bold"/>
                <a:ea typeface="Arimo Bold"/>
                <a:cs typeface="Arimo Bold"/>
                <a:sym typeface="Arimo Bold"/>
              </a:rPr>
              <a:t>An async job queue connects API and orchestrator; every answer is gated by a verifier before the user sees it.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&amp; Product Walkthrough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828925"/>
            <a:ext cx="75247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704EA6"/>
                </a:solidFill>
                <a:latin typeface="Arimo Bold"/>
                <a:ea typeface="Arimo Bold"/>
                <a:cs typeface="Arimo Bold"/>
                <a:sym typeface="Arimo Bold"/>
              </a:rPr>
              <a:t>Live proof 1: grounded answer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300" y="3562350"/>
            <a:ext cx="7524750" cy="357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545" indent="-275272" lvl="1">
              <a:lnSpc>
                <a:spcPts val="3569"/>
              </a:lnSpc>
              <a:buFont typeface="Arial"/>
              <a:buChar char="•"/>
            </a:pPr>
            <a:r>
              <a:rPr lang="en-US" sz="25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Q: What are the procurement thresholds that require competitive bidding?</a:t>
            </a:r>
          </a:p>
          <a:p>
            <a:pPr algn="l" marL="550545" indent="-275272" lvl="1">
              <a:lnSpc>
                <a:spcPts val="3569"/>
              </a:lnSpc>
              <a:buFont typeface="Arial"/>
              <a:buChar char="•"/>
            </a:pPr>
            <a:r>
              <a:rPr lang="en-US" sz="25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A: Competitive bids are required for all purchases with an aggregate value of $50,000 or more. [1]</a:t>
            </a:r>
          </a:p>
          <a:p>
            <a:pPr algn="l" marL="550545" indent="-275272" lvl="1">
              <a:lnSpc>
                <a:spcPts val="3569"/>
              </a:lnSpc>
              <a:buFont typeface="Arial"/>
              <a:buChar char="•"/>
            </a:pPr>
            <a:r>
              <a:rPr lang="en-US" sz="25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[1] 2305 Compliance with Procurement Policies, University of Pennsylvania, effective 1990-09, pp. 2–3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5950" y="2828925"/>
            <a:ext cx="75247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704EA6"/>
                </a:solidFill>
                <a:latin typeface="Arimo Bold"/>
                <a:ea typeface="Arimo Bold"/>
                <a:cs typeface="Arimo Bold"/>
                <a:sym typeface="Arimo Bold"/>
              </a:rPr>
              <a:t>Live proof 2: honest abstention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5950" y="3562350"/>
            <a:ext cx="7524750" cy="267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545" indent="-275272" lvl="1">
              <a:lnSpc>
                <a:spcPts val="3569"/>
              </a:lnSpc>
              <a:buFont typeface="Arial"/>
              <a:buChar char="•"/>
            </a:pPr>
            <a:r>
              <a:rPr lang="en-US" sz="25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Q: What is Harvard University’s policy on travel expense reimbursement?</a:t>
            </a:r>
          </a:p>
          <a:p>
            <a:pPr algn="l" marL="550545" indent="-275272" lvl="1">
              <a:lnSpc>
                <a:spcPts val="3569"/>
              </a:lnSpc>
              <a:buFont typeface="Arial"/>
              <a:buChar char="•"/>
            </a:pPr>
            <a:r>
              <a:rPr lang="en-US" sz="25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A: The retrieved documents do not contain enough evidence to answer this question.</a:t>
            </a:r>
          </a:p>
          <a:p>
            <a:pPr algn="l" marL="550545" indent="-275272" lvl="1">
              <a:lnSpc>
                <a:spcPts val="3569"/>
              </a:lnSpc>
              <a:buFont typeface="Arial"/>
              <a:buChar char="•"/>
            </a:pPr>
            <a:r>
              <a:rPr lang="en-US" sz="25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Status: Abstained. Harvard isn’t in the document set, so it said so instead of inventing an answer.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7300" y="8534400"/>
            <a:ext cx="15773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704EA6"/>
                </a:solidFill>
                <a:latin typeface="Arimo Bold"/>
                <a:ea typeface="Arimo Bold"/>
                <a:cs typeface="Arimo Bold"/>
                <a:sym typeface="Arimo Bold"/>
                <a:hlinkClick r:id="rId3" tooltip="https://drive.google.com/file/d/1M74sb6NFH8FlprWxU1pLssUKaQGRzh8t/view?usp=sharing"/>
              </a:rPr>
              <a:t>Demo video: https://drive.google.com/file/d/1M74sb6NFH8FlprWxU1pLssUKaQGRzh8t/view?usp=sharing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and tech stack used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828925"/>
            <a:ext cx="75247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strike="noStrike" u="none">
                <a:solidFill>
                  <a:srgbClr val="704EA6"/>
                </a:solidFill>
                <a:latin typeface="Arimo Bold"/>
                <a:ea typeface="Arimo Bold"/>
                <a:cs typeface="Arimo Bold"/>
                <a:sym typeface="Arimo Bold"/>
              </a:rPr>
              <a:t>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300" y="3581400"/>
            <a:ext cx="7524750" cy="422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LLM: openai/gpt-oss-20b via Groq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Embeddings: Snowflake arctic-embed-m-v1.5 (best of 5 benchmarked)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Reranker: cross-encoder ms-marco-MiniLM-L-6-v2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Search: dense + BM25 indexes fused by Reciprocal Rank Fusion, no external vector DB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Backend: Python, FastAPI, Pydantic, Uvicorn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Frontend: React, TypeScript, Vite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PDF parsing: PyMuPDF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Infra: RabbitMQ (job queue), Redis (sessions), PostgreSQL (metadata), MCP (tool server), OpenTelemetry (tracing)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4 independent services; deploys with or without Docker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5950" y="2828925"/>
            <a:ext cx="75247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704EA6"/>
                </a:solidFill>
                <a:latin typeface="Arimo Bold"/>
                <a:ea typeface="Arimo Bold"/>
                <a:cs typeface="Arimo Bold"/>
                <a:sym typeface="Arimo Bold"/>
              </a:rPr>
              <a:t>AI usage, disclosed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5950" y="3581400"/>
            <a:ext cx="7524750" cy="176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v0 by Vercel: initial visual design direction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Claude Sonnet 5: implementation, bug fixes, local dev tooling, documentation, testing support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Every AI-assisted change was verified against the running app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&amp; Use case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771775"/>
            <a:ext cx="15773400" cy="38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Users: staff checking policy (a traveler’s reimbursement deadline, a buyer’s bidding threshold) without reading a 94-page PDF</a:t>
            </a:r>
          </a:p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Corpus: 12 policy documents, 10 institutions, 221 pages, 466 indexed chunks</a:t>
            </a:r>
          </a:p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Retrieval: Recall@5 98.6%, MRR@10 0.867 on a 69-case benchmark, best of 5 embedding models</a:t>
            </a:r>
          </a:p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Speed: ~99 ms mean retrieval time on CPU (top-10)</a:t>
            </a:r>
          </a:p>
          <a:p>
            <a:pPr algn="l" marL="647700" indent="-323850" lvl="1">
              <a:lnSpc>
                <a:spcPts val="43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Reliable: same retrieve-or-abstain decision in 27 of 27 live-LLM cases across two runs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 highlights, results and limitations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924175"/>
            <a:ext cx="49530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704EA6"/>
                </a:solidFill>
                <a:latin typeface="Arimo Bold"/>
                <a:ea typeface="Arimo Bold"/>
                <a:cs typeface="Arimo Bold"/>
                <a:sym typeface="Arimo Bold"/>
              </a:rPr>
              <a:t>Innovation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300" y="3676650"/>
            <a:ext cx="4953000" cy="211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Verifier checks every claim against the source text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Answer or abstain, never an unverified answer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Multi-intent splitting, temporal versioning, follow-up memory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48450" y="2924175"/>
            <a:ext cx="49530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704EA6"/>
                </a:solidFill>
                <a:latin typeface="Arimo Bold"/>
                <a:ea typeface="Arimo Bold"/>
                <a:cs typeface="Arimo Bold"/>
                <a:sym typeface="Arimo 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48450" y="3676650"/>
            <a:ext cx="4953000" cy="422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843 automated tests passing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Recall@5 98.6%, MRR@10 0.867 (69-case benchmark)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Service layer matches the direct pipeline: 69/69 turns, 42/42 conversations identical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Live-LLM runs (27 cases, 2 runs): 100% same retrieve-or-abstain decision, 70% identical wording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4 services, 10 build phases, 2 deployment paths; re-verified from a clean copy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9600" y="2924175"/>
            <a:ext cx="49530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704EA6"/>
                </a:solidFill>
                <a:latin typeface="Arimo Bold"/>
                <a:ea typeface="Arimo Bold"/>
                <a:cs typeface="Arimo Bold"/>
                <a:sym typeface="Arimo Bold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39600" y="3676650"/>
            <a:ext cx="4953000" cy="387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Answers only from the indexed document set (e.g. Harvard isn’t included, so it abstains)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One query at a time per API process; no concurrency yet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Synchronous wait for answers; no job-status endpoint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Service calls have no auth, retries or TLS (fine for a hackathon, not production)</a:t>
            </a:r>
          </a:p>
          <a:p>
            <a:pPr algn="l" marL="453390" indent="-226695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CPU-only inference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What’s next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733675"/>
            <a:ext cx="15773400" cy="314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95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Concurrent query handling, removing the one-at-a-time limit</a:t>
            </a:r>
          </a:p>
          <a:p>
            <a:pPr algn="l" marL="712470" indent="-356235" lvl="1">
              <a:lnSpc>
                <a:spcPts val="495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Expand the corpus to more policy domains and institutions</a:t>
            </a:r>
          </a:p>
          <a:p>
            <a:pPr algn="l" marL="712470" indent="-356235" lvl="1">
              <a:lnSpc>
                <a:spcPts val="495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Job-status endpoint so the frontend can poll instead of waiting on one long request</a:t>
            </a:r>
          </a:p>
          <a:p>
            <a:pPr algn="l" marL="712470" indent="-356235" lvl="1">
              <a:lnSpc>
                <a:spcPts val="495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Authenticated, multi-tenant deployment for real institutional rollout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Brownie points slide( differentiation)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771775"/>
            <a:ext cx="15773400" cy="418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315" indent="-307658" lvl="1">
              <a:lnSpc>
                <a:spcPts val="4132"/>
              </a:lnSpc>
              <a:buFont typeface="Arial"/>
              <a:buChar char="•"/>
            </a:pPr>
            <a:r>
              <a:rPr lang="en-US" sz="28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Verifier gate: every claim checked against source text before it is shown</a:t>
            </a:r>
          </a:p>
          <a:p>
            <a:pPr algn="l" marL="615315" indent="-307658" lvl="1">
              <a:lnSpc>
                <a:spcPts val="4132"/>
              </a:lnSpc>
              <a:buFont typeface="Arial"/>
              <a:buChar char="•"/>
            </a:pPr>
            <a:r>
              <a:rPr lang="en-US" sz="28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Honest abstention: “not enough evidence” instead of an invented answer</a:t>
            </a:r>
          </a:p>
          <a:p>
            <a:pPr algn="l" marL="615315" indent="-307658" lvl="1">
              <a:lnSpc>
                <a:spcPts val="4132"/>
              </a:lnSpc>
              <a:buFont typeface="Arial"/>
              <a:buChar char="•"/>
            </a:pPr>
            <a:r>
              <a:rPr lang="en-US" sz="28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Multi-intent: one question naming two universities becomes two separately cited answers</a:t>
            </a:r>
          </a:p>
          <a:p>
            <a:pPr algn="l" marL="615315" indent="-307658" lvl="1">
              <a:lnSpc>
                <a:spcPts val="4132"/>
              </a:lnSpc>
              <a:buFont typeface="Arial"/>
              <a:buChar char="•"/>
            </a:pPr>
            <a:r>
              <a:rPr lang="en-US" sz="28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Temporal versioning: Feb 2026 vs July 2026 versions of a policy stay distinct and cited separately</a:t>
            </a:r>
          </a:p>
          <a:p>
            <a:pPr algn="l" marL="615315" indent="-307658" lvl="1">
              <a:lnSpc>
                <a:spcPts val="4132"/>
              </a:lnSpc>
              <a:buFont typeface="Arial"/>
              <a:buChar char="•"/>
            </a:pPr>
            <a:r>
              <a:rPr lang="en-US" sz="28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Follow-up memory: “does that still apply currently?” narrows to the current version automatically</a:t>
            </a:r>
          </a:p>
          <a:p>
            <a:pPr algn="l" marL="615315" indent="-307658" lvl="1">
              <a:lnSpc>
                <a:spcPts val="4132"/>
              </a:lnSpc>
              <a:buFont typeface="Arial"/>
              <a:buChar char="•"/>
            </a:pPr>
            <a:r>
              <a:rPr lang="en-US" sz="2850">
                <a:solidFill>
                  <a:srgbClr val="63637E"/>
                </a:solidFill>
                <a:latin typeface="Arimo"/>
                <a:ea typeface="Arimo"/>
                <a:cs typeface="Arimo"/>
                <a:sym typeface="Arimo"/>
              </a:rPr>
              <a:t>843 tests, re-verified from a clean, freshly extracted copy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Checklist- Updated on Public GitHub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21" y="2650788"/>
            <a:ext cx="15590549" cy="353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Working prototype code, public GitHub repo: Y (github.com/eb1124/Streaming-Live-RAG)</a:t>
            </a:r>
          </a:p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README with reproducible setup instructions: Y (verified from a fresh copy)</a:t>
            </a:r>
          </a:p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Demo video, max 5 minutes: Yes (Google Drive link on the Demo slide and in the README)</a:t>
            </a:r>
          </a:p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Presentation file (PPT or PDF): Yes (this deck, exported from Canva)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9272" y="5595318"/>
            <a:ext cx="10149840" cy="1303020"/>
            <a:chOff x="0" y="0"/>
            <a:chExt cx="13533120" cy="173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33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78" r="0" b="-10177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53312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900">
                  <a:solidFill>
                    <a:srgbClr val="1414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5860" y="8846820"/>
            <a:ext cx="15910560" cy="438912"/>
            <a:chOff x="0" y="0"/>
            <a:chExt cx="21214080" cy="5852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6332" r="0" b="-6563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21408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3637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Organised by the Language AI Team and the PRISM Team, Samsung R&amp;D Institute India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DAHXER7ySUc</dc:identifier>
  <dcterms:modified xsi:type="dcterms:W3CDTF">2011-08-01T06:04:30Z</dcterms:modified>
  <cp:revision>1</cp:revision>
  <dc:title>SRMIST_Hackmatrix_Submission</dc:title>
</cp:coreProperties>
</file>